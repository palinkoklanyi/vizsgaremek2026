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VIZSGAREMEK DOKUMENTÁCIÓ 2026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PannonNet Enterprise Kft.</a:t>
            </a:r>
          </a:p>
          <a:p>
            <a:pPr>
              <a:spcAft>
                <a:spcPts val="2400"/>
              </a:spcAft>
              <a:defRPr sz="2200">
                <a:solidFill>
                  <a:srgbClr val="94A3B8"/>
                </a:solidFill>
                <a:latin typeface="Georgia"/>
              </a:defRPr>
            </a:pPr>
            <a:r>
              <a:t>Magas Rendelkezésre Állású Vállalati Hálózati és Szerver Infrastruktúra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Készítők / Szerzők: Pálinkó Gábor &amp; Klányi Roland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Szakma: Informatikai Rendszer- és Hálózatüzemeltető Technikus | Dátum: 2026. szeptember 13.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Pálinkó Gábor és Klányi Roland 100%-ban redundáns IT architektúrát épített ki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NSoF ARCHITEKTÚRA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0 Single Point of Failure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Kettőzött Cisco L3 magkapcsolók HSRP átjáró redundanciával és LACP aggregációval.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15803D"/>
                </a:solidFill>
              </a:defRPr>
            </a:pPr>
            <a:r>
              <a:t>VALIDÁLT MŰKÖDÉS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10 / 10 Teszt Sikeres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Éles failover és terhelési tesztek igazolják a hibatűrő és biztonságos üzemelést.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645920"/>
          <a:ext cx="7223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36576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Komponens / Terület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Felelős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Részletes Szakmai Feladatkör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L2/L3 Cisco Hálózat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Pálinkó Gábor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Core-SW1/2 LACP Port-Channel (2Gbps), Rapid-PVST+, HSRP v2 VIP-ek, BPDU Guard.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Peremvédelem &amp; WAN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Pálinkó Gábor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Cisco ASA 5506-X tűzfal, Inside 100 / Outside 0, Dynamic PAT, ICMP inspection.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OpenVPN &amp; PKI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Pálinkó Gábor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pfSense tűzfal, belső CA (OVPN_CA) RSA 2048-bit, UDP 1194, 10.30.0.0/24 subnet.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Active Directory &amp; 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Klányi Roland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Windows Server 2025 AD DS vizsga.local, VALLALAT OU (5 részleg), DHCP Scope &amp; Exclusion.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Csoportházirend (GPO)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Klányi Roland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GPO automatizált H: drive map (ILT szűrés), csendes MSI telepítések (Firefox, 7-Zip), ACL.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Linux Web &amp; Backup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Klányi Roland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Ubuntu 24.04 LTS (Apache2, vsftpd SFTP), UFW tűzfal, éjszakai Windows Server Backup.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HSRP és LACP protokollok 0 csomagvesztéses feladatátvételt garantálnak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LACP PORT-CHANNEL 1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2 Gbps Aggregáció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Gig0/1 és Gig0/2 összevonása</a:t>
            </a:r>
            <a:br/>
            <a:r>
              <a:t>• 0 csomagvesztés linkhiba esetén</a:t>
            </a:r>
            <a:br/>
            <a:r>
              <a:t>• Logikai hurokmentesítés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HSRP V2 ÁTJÁRÓ REDUNDANCIA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3 mp Failover Idő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Core-SW1 Master (Priority 110)</a:t>
            </a:r>
            <a:br/>
            <a:r>
              <a:t>• Core-SW2 Standby (Priority 90)</a:t>
            </a:r>
            <a:br/>
            <a:r>
              <a:t>• Virtuális IP-címek (10.20.0.1)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RAPID PVST+ SPANNING TREE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Hurokvédelem &amp; BPDU Guard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Core-SW1 Root Primary</a:t>
            </a:r>
            <a:br/>
            <a:r>
              <a:t>• Core-SW2 Root Secondary</a:t>
            </a:r>
            <a:br/>
            <a:r>
              <a:t>• BPDU Guard 30 mp errdisable recovery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97680"/>
          <a:ext cx="107286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  <a:gridCol w="2773375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VLAN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Megnevezés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IP Alhálózat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Virtuális Átjáró (HSRP VIP)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VLAN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10.20.0.0 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10.20.0.1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VLAN 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WORKSTATIONS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10.30.0.0 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10.30.0.1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VLAN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PRINTERS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10.50.0.0 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10.50.0.1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VLAN 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GUEST_WIFI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10.60.0.0 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10.60.0.1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Cisco ASA 5506-X dinamikus PAT címfordítással védi a belső zónát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PEREMVÉDELEMI MŰKÖDÉS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Inside Zóna (Security Level 100):</a:t>
            </a:r>
            <a:r>
              <a:rPr sz="1100">
                <a:solidFill>
                  <a:srgbClr val="1E293B"/>
                </a:solidFill>
              </a:rPr>
              <a:t> Belső védett LAN felület (10.20.0.254 IP-címmel a Server-SW felé).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Outside Zóna (Security Level 0):</a:t>
            </a:r>
            <a:r>
              <a:rPr sz="1100">
                <a:solidFill>
                  <a:srgbClr val="1E293B"/>
                </a:solidFill>
              </a:rPr>
              <a:t> Megbízhatatlan külső WAN csatlakozás (192.168.1.1 IP a Router2911 felé).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Dinamikus Object PAT (NAT):</a:t>
            </a:r>
            <a:r>
              <a:rPr sz="1100">
                <a:solidFill>
                  <a:srgbClr val="1E293B"/>
                </a:solidFill>
              </a:rPr>
              <a:t> A belső 10.0.0.0/8 hálózat IP-címeit a külső interfész publikus címére fordítja.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ICMP Inspection:</a:t>
            </a:r>
            <a:r>
              <a:rPr sz="1100">
                <a:solidFill>
                  <a:srgbClr val="1E293B"/>
                </a:solidFill>
              </a:rPr>
              <a:t> A policy-map global_policy keretében ellenőrzött ping átengedést biztosít.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Statikus Útvonalvezetés:</a:t>
            </a:r>
            <a:r>
              <a:rPr sz="1100">
                <a:solidFill>
                  <a:srgbClr val="1E293B"/>
                </a:solidFill>
              </a:rPr>
              <a:t> A belső forgalmat a HSRP VIP (10.20.0.1), a külső forgalmat az ISP felé továbbítja.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CISCO ASA 5506-X IOS KONFIGURÁCIÓ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interface GigabitEthernet 1/1</a:t>
            </a:r>
            <a:br/>
            <a:r>
              <a:t>  description WAN_Outside_to_Router2911</a:t>
            </a:r>
            <a:br/>
            <a:r>
              <a:t>  nameif outside</a:t>
            </a:r>
            <a:br/>
            <a:r>
              <a:t>  security-level 0</a:t>
            </a:r>
            <a:br/>
            <a:r>
              <a:t>  ip address 192.168.1.1 255.255.255.0</a:t>
            </a:r>
            <a:br/>
            <a:br/>
            <a:r>
              <a:t>interface GigabitEthernet 1/2</a:t>
            </a:r>
            <a:br/>
            <a:r>
              <a:t>  description LAN_Inside_to_Server_SW</a:t>
            </a:r>
            <a:br/>
            <a:r>
              <a:t>  nameif inside</a:t>
            </a:r>
            <a:br/>
            <a:r>
              <a:t>  security-level 100</a:t>
            </a:r>
            <a:br/>
            <a:r>
              <a:t>  ip address 10.20.0.254 255.255.255.0</a:t>
            </a:r>
            <a:br/>
            <a:br/>
            <a:r>
              <a:t>policy-map global_policy</a:t>
            </a:r>
            <a:br/>
            <a:r>
              <a:t>  class inspection_default</a:t>
            </a:r>
            <a:br/>
            <a:r>
              <a:t>   inspect icmp</a:t>
            </a:r>
            <a:br/>
            <a:br/>
            <a:r>
              <a:t>object network INTERNAL_NET</a:t>
            </a:r>
            <a:br/>
            <a:r>
              <a:t>  subnet 10.0.0.0 255.0.0.0</a:t>
            </a:r>
            <a:br/>
            <a:r>
              <a:t>  nat (inside,outside) dynamic interface</a:t>
            </a:r>
            <a:br/>
            <a:br/>
            <a:r>
              <a:t>route inside 10.0.0.0 255.0.0.0 10.20.0.1</a:t>
            </a:r>
            <a:br/>
            <a:r>
              <a:t>route outside 0.0.0.0 0.0.0.0 192.168.1.254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VIZSGAPC AD DS központi identitáskezelést és automatizált GPO-t biztosít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ACTIVE DIRECTORY DS &amp; OU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vizsga.local Tartomány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Szerver: Windows Server 2025 (VIZSGAPC, 10.20.0.2)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VALLALAT fő Szervezeti Egység (OU) felépítése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5 részlegcsoport: PENZUGY, IT, VEZETOSEG, MARKETING, IRODA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Biztonsági csoportok és felhasználók (pl. VIZSGA\remek.anna)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DHCP &amp; DNS SZOLGÁLTATÁSOK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10.20.0.50 – 150 Scope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Irodai DHCP Scope: 10.20.0.50 – 10.20.0.150 kiosztás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Kizárási tartomány: 10.20.0.100 – 102 (Nyomtatók)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Forward Lookup Zóna (A rekordok: vizsgapc, intranet)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Reverse Lookup (PTR) Zóna: 20.20.10.in-addr.arpa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GPO &amp; NTFS BIZTONSÁG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Automatizált Kezelés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GPO Drive Maps: H: meghajtó felcsatolás Helpdesk-nek (ILT)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Csendes MSI telepítés: Mozilla Firefox ESR, 7-Zip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NTFS öröklődés kikapcsolása (Block Inheritance)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Egyedi hozzáférési listák (ACL) rögzítése a megosztásokon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pfSense OpenVPN és az Ubuntu Web biztonságos távmunkát nyújt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UBUNTU 24.04 LTS LINUX SZERVER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Belső Webportál &amp; SFTP Frissítés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Hálózati Beállítás:</a:t>
            </a:r>
            <a:r>
              <a:rPr sz="1100">
                <a:solidFill>
                  <a:srgbClr val="1E293B"/>
                </a:solidFill>
              </a:rPr>
              <a:t> Netplan statikus IP (vizsgaweb: 10.20.0.3/24, átjáró: 10.20.0.254).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Apache2 Webszerver:</a:t>
            </a:r>
            <a:r>
              <a:rPr sz="1100">
                <a:solidFill>
                  <a:srgbClr val="1E293B"/>
                </a:solidFill>
              </a:rPr>
              <a:t> intranet.vizsga.local belső vállalati portál kiszolgálása.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Titkosított SFTP Frissítés:</a:t>
            </a:r>
            <a:r>
              <a:rPr sz="1100">
                <a:solidFill>
                  <a:srgbClr val="1E293B"/>
                </a:solidFill>
              </a:rPr>
              <a:t> vsftpd / SFTP szerviz a webadmin fiók számára.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UFW Tűzfal Szabályzat:</a:t>
            </a:r>
            <a:r>
              <a:rPr sz="1100">
                <a:solidFill>
                  <a:srgbClr val="1E293B"/>
                </a:solidFill>
              </a:rPr>
              <a:t> Kizárólag a 80 (HTTP), 22 (SSH/SFTP) és 21 (FTP) portok engedélyezettek.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PFSENSE OPENVPN &amp; BACKUP STRATÉGIA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Távoli Elérés &amp; 3-2-1 Adatvédelem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pfSense OpenVPN Server:</a:t>
            </a:r>
            <a:r>
              <a:rPr sz="1100">
                <a:solidFill>
                  <a:srgbClr val="1E293B"/>
                </a:solidFill>
              </a:rPr>
              <a:t> Belső OVPN_CA tanúsítványkezelő (RSA 2048-bit PKI).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WAN Elérés &amp; VPN Subnet:</a:t>
            </a:r>
            <a:r>
              <a:rPr sz="1100">
                <a:solidFill>
                  <a:srgbClr val="1E293B"/>
                </a:solidFill>
              </a:rPr>
              <a:t> UDP 1194 porton csatlakozás, 10.30.0.0/24 virtuális IP kiosztás.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3-2-1 Mentési Stratégia:</a:t>
            </a:r>
            <a:r>
              <a:rPr sz="1100">
                <a:solidFill>
                  <a:srgbClr val="1E293B"/>
                </a:solidFill>
              </a:rPr>
              <a:t> Biztonsági mentés 3 példányban, 2-féle adathordozón, 1 off-site.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Windows Server Backup:</a:t>
            </a:r>
            <a:r>
              <a:rPr sz="1100">
                <a:solidFill>
                  <a:srgbClr val="1E293B"/>
                </a:solidFill>
              </a:rPr>
              <a:t> Automatizált éjszakai mentés (00:30) 50 GB dedikált virtuális lemezre (Bare Metal Recovery).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Az Oracle VirtualBox környezet hitelesen szimulálja a Packet Tracer modellt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CISCO PACKET TRACER LOGIKAI MODELL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4 Elkülönített VLAN Tartomány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Elméleti Architektúra:</a:t>
            </a:r>
            <a:r>
              <a:rPr sz="1100">
                <a:solidFill>
                  <a:srgbClr val="1E293B"/>
                </a:solidFill>
              </a:rPr>
              <a:t> Teljesen szegmentált L2/L3 hálózati struktúra.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4 Fő VLAN Tartomány:</a:t>
            </a:r>
            <a:r>
              <a:rPr sz="1100">
                <a:solidFill>
                  <a:srgbClr val="1E293B"/>
                </a:solidFill>
              </a:rPr>
              <a:t> VLAN 20 (SERVERS), VLAN 30 (WORKSTATIONS), VLAN 50 (PRINTERS), VLAN 60 (GUEST_WIFI).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L3 SVI Interfészek:</a:t>
            </a:r>
            <a:r>
              <a:rPr sz="1100">
                <a:solidFill>
                  <a:srgbClr val="1E293B"/>
                </a:solidFill>
              </a:rPr>
              <a:t> Az L3 switcheken külön SVI-k végzik a VLAN-ok közötti routingot.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Hardware Szimuláció:</a:t>
            </a:r>
            <a:r>
              <a:rPr sz="1100">
                <a:solidFill>
                  <a:srgbClr val="1E293B"/>
                </a:solidFill>
              </a:rPr>
              <a:t> Dedikált fizikai switchek és interfész modulok modellezése.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ORACLE VIRTUALBOX TESZTKÖRNYEZET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Gyakorlati Hipervizor Adaptáció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Hipervizor Korlátok:</a:t>
            </a:r>
            <a:r>
              <a:rPr sz="1100">
                <a:solidFill>
                  <a:srgbClr val="1E293B"/>
                </a:solidFill>
              </a:rPr>
              <a:t> A virtuális switch és NIC korlátok miatt a VM-ek a VLAN 20 alhálózaton (10.20.0.0/24) futnak.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Konszolidált IP Címzés:</a:t>
            </a:r>
            <a:r>
              <a:rPr sz="1100">
                <a:solidFill>
                  <a:srgbClr val="1E293B"/>
                </a:solidFill>
              </a:rPr>
              <a:t> VIZSGAPC (10.20.0.2), vizsgaweb (10.20.0.3), Win11 Kliens (10.20.0.50).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VLAN 30 Szimuláció:</a:t>
            </a:r>
            <a:r>
              <a:rPr sz="1100">
                <a:solidFill>
                  <a:srgbClr val="1E293B"/>
                </a:solidFill>
              </a:rPr>
              <a:t> Az OpenVPN kliensek számára a 10.30.0.x/24 tartományból történik a címkiosztás.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Hiteles Demonstráció:</a:t>
            </a:r>
            <a:r>
              <a:rPr sz="1100">
                <a:solidFill>
                  <a:srgbClr val="1E293B"/>
                </a:solidFill>
              </a:rPr>
              <a:t> A tesztkörnyezet tökéletesen igazolja a logikai modell működési elveit.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PANNONNET ENTERPRISE KFT. - IT INFRASTRUKTÚRA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Mind a 10 éles működési és terhelési teszt PASSED minősítést ért 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PannonNet Enterprise Kft. | Magas Rendelkezésre Állású Infrastruktúra</a:t>
            </a:r>
          </a:p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5790895"/>
                <a:gridCol w="173736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Tesztelt Szolgáltatás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Ténylegesen Tapasztalt Eredmény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Státusz / Tesztelő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Cisco Core HSRP Failover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Core-SW1 kiesése után Core-SW2 átvette az Active szerepet 3 mp (3 csomag) alatt.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(Pálinkó 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LACP EtherChannel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Egyik fizikai link kiesésekor 0 csomagvesztéssel futott tovább a Port-Channel 1.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(Pálinkó 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BPDU Guard &amp; Storm Ctrl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Illegális switch hatására port err-disable, 30s recovery helyreállította. Broadcast 10% szűrve.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(Pálinkó 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Cisco ASA NAT/PAT &amp; ICMP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Belső gépek elérik a WAN-t dinamikus PAT fordítással. ICMP inspection ping engedélyezve.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(Pálinkó 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AD DS Belépés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remek.anna sikeresen bejelentkezett a Win11 kliensről a VIZSGA domainbe.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(Klányi 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DHCP Scope &amp; Exclusion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Win11 kliens megkapta a 10.20.0.50 IP-t, nyomtató IP-k (100-102) védettek maradtak.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(Klányi R.)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GPO Drive Maps (H:)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H: hálózati meghajtó ILT szűréssel felcsatolva a Helpdesk csoportnak.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(Klányi 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GPO Csendes MSI Telepítés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Firefox ESR és 7-Zip automatikusan feltelepült csendes módban a gép indulásakor.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(Klányi R.)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Linux Web &amp; SFTP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intranet.vizsga.local elérhető, webadmin SFTP frissítés sikeres vsftpd-n.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(Klányi 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TC-10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pfSense OpenVPN &amp; Backup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OpenVPN csatlakozás sikeres (10.30.0.2), éjszakai Windows Server Backup sikeres.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</a:defRPr>
                      </a:pPr>
                      <a:r>
                        <a:t>PASSED (Mindkettő)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ÖSSZEGZÉS ÉS RENDSZER-RENDELKEZÉSRE ÁLLÁS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A PannonNet IT infrastruktúra megfelel a legmagasabb vállalati követelményeknek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524225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01. No Single Point of Failure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Kettőzött Core switchek HSRP és LACP redundanciával a 0 kiesési időért.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2103120"/>
            <a:ext cx="524225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02. Többszintű Perem- és Belső Védelem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Cisco ASA 5506-X PAT, UFW Linux tűzfal, BPDU Guard és NTFS ACL-ek.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03. Központi Identitás &amp; Szolgáltatások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Windows Server 2025 AD DS, automatizált GPO-k és Ubuntu Web szerver.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284C7"/>
                </a:solidFill>
                <a:latin typeface="Georgia"/>
              </a:defRPr>
            </a:pPr>
            <a:r>
              <a:t>04. Garantált Adatvédelem &amp; Validáció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3-2-1 szabályú éjszakai WSB mentés és 10/10 sikeres tesztmátrix.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PannonNet Enterprise Kft. Vizsgaremek Dokumentáció | Pálinkó Gábor &amp; Klányi Roland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